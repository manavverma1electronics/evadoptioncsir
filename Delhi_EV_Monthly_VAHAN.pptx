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795528"/>
            <a:ext cx="11935663" cy="5961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6251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7963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9675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1387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3099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4811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35663" y="384048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52783" y="384048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69903" y="384048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87023" y="384048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6576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 Light"/>
              </a:rPr>
              <a:t>EV Registrations  —  Chandni Chowk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4937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solidFill>
                  <a:srgbClr val="93C5FD"/>
                </a:solidFill>
                <a:latin typeface="Calibri"/>
              </a:rPr>
              <a:t>DL1 — Old Delhi (Mall Road)   |   Source: VAHAN Dashboard, MoRTH   |   Data: Jan 2025 – Jul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" y="813816"/>
            <a:ext cx="2357871" cy="621792"/>
          </a:xfrm>
          <a:prstGeom prst="rect">
            <a:avLst/>
          </a:prstGeom>
          <a:solidFill>
            <a:srgbClr val="DBEAFE"/>
          </a:solidFill>
          <a:ln w="7620">
            <a:solidFill>
              <a:srgbClr val="00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8016" y="813816"/>
            <a:ext cx="2357871" cy="50292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01F5B"/>
                </a:solidFill>
                <a:latin typeface="Calibri"/>
              </a:rPr>
              <a:t>4,337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Total Pure EV
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49895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22463" y="813816"/>
            <a:ext cx="2357871" cy="621792"/>
          </a:xfrm>
          <a:prstGeom prst="rect">
            <a:avLst/>
          </a:prstGeom>
          <a:solidFill>
            <a:srgbClr val="FFEDD5"/>
          </a:solidFill>
          <a:ln w="762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22463" y="813816"/>
            <a:ext cx="2357871" cy="502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3903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Calibri"/>
              </a:rPr>
              <a:t>1,499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3903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Total Pure EV
Jan–Jul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44343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16911" y="813816"/>
            <a:ext cx="2357871" cy="621792"/>
          </a:xfrm>
          <a:prstGeom prst="rect">
            <a:avLst/>
          </a:prstGeom>
          <a:solidFill>
            <a:srgbClr val="CCF0F8"/>
          </a:solidFill>
          <a:ln w="762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16911" y="813816"/>
            <a:ext cx="2357871" cy="502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8351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891B2"/>
                </a:solidFill>
                <a:latin typeface="Calibri"/>
              </a:rPr>
              <a:t>556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8351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2-Wheeler EV
(2025 + 2026)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8791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1359" y="813816"/>
            <a:ext cx="2357871" cy="621792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1359" y="813816"/>
            <a:ext cx="2357871" cy="502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2799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3,318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2799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3-Wheeler EV
(2025 + 2026)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3239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05807" y="813816"/>
            <a:ext cx="2357871" cy="621792"/>
          </a:xfrm>
          <a:prstGeom prst="rect">
            <a:avLst/>
          </a:prstGeom>
          <a:solidFill>
            <a:srgbClr val="EDE9FE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05807" y="813816"/>
            <a:ext cx="2357871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97247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Calibri"/>
              </a:rPr>
              <a:t>1,962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97247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4-Wheeler EV
(2025 + 2026)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016" y="1481328"/>
            <a:ext cx="11935663" cy="2468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8016" y="1481328"/>
            <a:ext cx="54864" cy="24688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592" y="1499616"/>
            <a:ext cx="8229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  MONTHLY PURE EV REGISTRATIONS   (January 2025 — July 2026)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1508760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i="1">
                <a:solidFill>
                  <a:srgbClr val="93C5FD"/>
                </a:solidFill>
                <a:latin typeface="Calibri"/>
              </a:rPr>
              <a:t>Pure EV = ELECTRIC(BOV) + PURE EV   |   Hybrids excluded 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4" y="1746504"/>
            <a:ext cx="11899087" cy="1847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746504"/>
            <a:ext cx="11899087" cy="1847088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128016" y="3639312"/>
            <a:ext cx="11935663" cy="246888"/>
          </a:xfrm>
          <a:prstGeom prst="rect">
            <a:avLst/>
          </a:prstGeom>
          <a:solidFill>
            <a:srgbClr val="03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8016" y="3639312"/>
            <a:ext cx="54864" cy="2468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3657600"/>
            <a:ext cx="1170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  PURE EV BREAKDOWN BY VEHICLE TYPE   (Annual Totals — 2025 Full Year  &amp;  Jan–Jul 2026)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128016" y="3904488"/>
          <a:ext cx="12188952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3291840"/>
                <a:gridCol w="1828800"/>
                <a:gridCol w="304495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Vehicle 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2025  Full 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Share of 2025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2026  (Jan – Jul)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Share of 2026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0891B2"/>
                          </a:solidFill>
                          <a:latin typeface="Calibri"/>
                        </a:rPr>
                        <a:t>2-Wheeler</a:t>
                      </a:r>
                    </a:p>
                    <a:p>
                      <a:pPr algn="l"/>
                      <a:r>
                        <a:rPr sz="750" b="0" i="1">
                          <a:solidFill>
                            <a:srgbClr val="64748B"/>
                          </a:solidFill>
                          <a:latin typeface="Calibri"/>
                        </a:rPr>
                        <a:t>M-Cycle / Scooter / Moped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0891B2"/>
                          </a:solidFill>
                          <a:latin typeface="Calibri"/>
                        </a:rPr>
                        <a:t>402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891B2"/>
                          </a:solidFill>
                          <a:latin typeface="Calibri"/>
                        </a:rPr>
                        <a:t>█░░░░░░░░░░░░░░  9.3%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6600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FF6600"/>
                          </a:solidFill>
                          <a:latin typeface="Calibri"/>
                        </a:rPr>
                        <a:t>██░░░░░░░░░░░░░  10.3%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059669"/>
                          </a:solidFill>
                          <a:latin typeface="Calibri"/>
                        </a:rPr>
                        <a:t>3-Wheeler</a:t>
                      </a:r>
                    </a:p>
                    <a:p>
                      <a:pPr algn="l"/>
                      <a:r>
                        <a:rPr sz="750" b="0" i="1">
                          <a:solidFill>
                            <a:srgbClr val="64748B"/>
                          </a:solidFill>
                          <a:latin typeface="Calibri"/>
                        </a:rPr>
                        <a:t>E-Rickshaw / Auto / Cargo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059669"/>
                          </a:solidFill>
                          <a:latin typeface="Calibri"/>
                        </a:rPr>
                        <a:t>3,102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59669"/>
                          </a:solidFill>
                          <a:latin typeface="Calibri"/>
                        </a:rPr>
                        <a:t>███████████░░░░  71.5%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6600"/>
                          </a:solidFill>
                          <a:latin typeface="Calibri"/>
                        </a:rPr>
                        <a:t>216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FF6600"/>
                          </a:solidFill>
                          <a:latin typeface="Calibri"/>
                        </a:rPr>
                        <a:t>██░░░░░░░░░░░░░  14.4%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7C3AED"/>
                          </a:solidFill>
                          <a:latin typeface="Calibri"/>
                        </a:rPr>
                        <a:t>4-Wheeler</a:t>
                      </a:r>
                    </a:p>
                    <a:p>
                      <a:pPr algn="l"/>
                      <a:r>
                        <a:rPr sz="750" b="0" i="1">
                          <a:solidFill>
                            <a:srgbClr val="64748B"/>
                          </a:solidFill>
                          <a:latin typeface="Calibri"/>
                        </a:rPr>
                        <a:t>Motor Car / Jeep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7C3AED"/>
                          </a:solidFill>
                          <a:latin typeface="Calibri"/>
                        </a:rPr>
                        <a:t>833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7C3AED"/>
                          </a:solidFill>
                          <a:latin typeface="Calibri"/>
                        </a:rPr>
                        <a:t>███░░░░░░░░░░░░  19.2%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6600"/>
                          </a:solidFill>
                          <a:latin typeface="Calibri"/>
                        </a:rPr>
                        <a:t>1,129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FF6600"/>
                          </a:solidFill>
                          <a:latin typeface="Calibri"/>
                        </a:rPr>
                        <a:t>███████████░░░░  75.3%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TOTAL EV</a:t>
                      </a:r>
                    </a:p>
                    <a:p>
                      <a:pPr algn="l"/>
                      <a:r>
                        <a:rPr sz="750" b="0" i="1">
                          <a:solidFill>
                            <a:srgbClr val="93C5FD"/>
                          </a:solidFill>
                          <a:latin typeface="Calibri"/>
                        </a:rPr>
                        <a:t>All EV vehicle types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Calibri"/>
                        </a:rPr>
                        <a:t>4,337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93C5FD"/>
                          </a:solidFill>
                          <a:latin typeface="Calibri"/>
                        </a:rPr>
                        <a:t>100%  of all EV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DBA74"/>
                          </a:solidFill>
                          <a:latin typeface="Calibri"/>
                        </a:rPr>
                        <a:t>1,499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DBA74"/>
                          </a:solidFill>
                          <a:latin typeface="Calibri"/>
                        </a:rPr>
                        <a:t>100%  of all EV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  <p:sp>
        <p:nvSpPr>
          <p:cNvPr id="54" name="Rectangle 5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" y="6647688"/>
            <a:ext cx="1200881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1">
                <a:solidFill>
                  <a:srgbClr val="93C5FD"/>
                </a:solidFill>
                <a:latin typeface="Calibri"/>
              </a:rPr>
              <a:t>  DL1 — Old Delhi (Mall Road)   ·   vahan.parivahan.gov.in (MoRTH)   ·   Monthly: Y-Axis=Fuel, X-Axis=Month Wise   ·   Vehicle class: Y-Axis=Vehicle Class, X-Axis=Fuel   ·   Pure EV = ELECTRIC(BOV) + PURE EV   (hybrids excluded)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795528"/>
            <a:ext cx="11935663" cy="5961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6251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7963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9675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1387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3099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4811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35663" y="384048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52783" y="384048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69903" y="384048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87023" y="384048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6576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 Light"/>
              </a:rPr>
              <a:t>EV Registrations  —  Lajpat Nagar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4937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solidFill>
                  <a:srgbClr val="93C5FD"/>
                </a:solidFill>
                <a:latin typeface="Calibri"/>
              </a:rPr>
              <a:t>DL3 — South Delhi (Lado Sarai)   |   Source: VAHAN Dashboard, MoRTH   |   Data: Jan 2025 – Jul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" y="813816"/>
            <a:ext cx="2357871" cy="621792"/>
          </a:xfrm>
          <a:prstGeom prst="rect">
            <a:avLst/>
          </a:prstGeom>
          <a:solidFill>
            <a:srgbClr val="DBEAFE"/>
          </a:solidFill>
          <a:ln w="7620">
            <a:solidFill>
              <a:srgbClr val="00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8016" y="813816"/>
            <a:ext cx="2357871" cy="50292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01F5B"/>
                </a:solidFill>
                <a:latin typeface="Calibri"/>
              </a:rPr>
              <a:t>6,592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Total Pure EV
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49895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22463" y="813816"/>
            <a:ext cx="2357871" cy="621792"/>
          </a:xfrm>
          <a:prstGeom prst="rect">
            <a:avLst/>
          </a:prstGeom>
          <a:solidFill>
            <a:srgbClr val="FFEDD5"/>
          </a:solidFill>
          <a:ln w="762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22463" y="813816"/>
            <a:ext cx="2357871" cy="502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3903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Calibri"/>
              </a:rPr>
              <a:t>7,446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3903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Total Pure EV
Jan–Jul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44343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16911" y="813816"/>
            <a:ext cx="2357871" cy="621792"/>
          </a:xfrm>
          <a:prstGeom prst="rect">
            <a:avLst/>
          </a:prstGeom>
          <a:solidFill>
            <a:srgbClr val="CCF0F8"/>
          </a:solidFill>
          <a:ln w="762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16911" y="813816"/>
            <a:ext cx="2357871" cy="502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8351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891B2"/>
                </a:solidFill>
                <a:latin typeface="Calibri"/>
              </a:rPr>
              <a:t>9,679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8351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2-Wheeler EV
(2025 + 2026)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8791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1359" y="813816"/>
            <a:ext cx="2357871" cy="621792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1359" y="813816"/>
            <a:ext cx="2357871" cy="502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2799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1,683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2799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3-Wheeler EV
(2025 + 2026)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3239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05807" y="813816"/>
            <a:ext cx="2357871" cy="621792"/>
          </a:xfrm>
          <a:prstGeom prst="rect">
            <a:avLst/>
          </a:prstGeom>
          <a:solidFill>
            <a:srgbClr val="EDE9FE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05807" y="813816"/>
            <a:ext cx="2357871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97247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Calibri"/>
              </a:rPr>
              <a:t>2,676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97247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4-Wheeler EV
(2025 + 2026)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016" y="1481328"/>
            <a:ext cx="11935663" cy="2468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8016" y="1481328"/>
            <a:ext cx="54864" cy="24688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592" y="1499616"/>
            <a:ext cx="8229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  MONTHLY PURE EV REGISTRATIONS   (January 2025 — July 2026)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1508760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i="1">
                <a:solidFill>
                  <a:srgbClr val="93C5FD"/>
                </a:solidFill>
                <a:latin typeface="Calibri"/>
              </a:rPr>
              <a:t>Pure EV = ELECTRIC(BOV) + PURE EV   |   Hybrids excluded 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4" y="1746504"/>
            <a:ext cx="11899087" cy="1847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746504"/>
            <a:ext cx="11899087" cy="1847088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128016" y="3639312"/>
            <a:ext cx="11935663" cy="246888"/>
          </a:xfrm>
          <a:prstGeom prst="rect">
            <a:avLst/>
          </a:prstGeom>
          <a:solidFill>
            <a:srgbClr val="03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8016" y="3639312"/>
            <a:ext cx="54864" cy="2468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3657600"/>
            <a:ext cx="1170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  PURE EV BREAKDOWN BY VEHICLE TYPE   (Annual Totals — 2025 Full Year  &amp;  Jan–Jul 2026)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128016" y="3904488"/>
          <a:ext cx="12188952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3291840"/>
                <a:gridCol w="1828800"/>
                <a:gridCol w="304495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Vehicle 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2025  Full 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Share of 2025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2026  (Jan – Jul)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Share of 2026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0891B2"/>
                          </a:solidFill>
                          <a:latin typeface="Calibri"/>
                        </a:rPr>
                        <a:t>2-Wheeler</a:t>
                      </a:r>
                    </a:p>
                    <a:p>
                      <a:pPr algn="l"/>
                      <a:r>
                        <a:rPr sz="750" b="0" i="1">
                          <a:solidFill>
                            <a:srgbClr val="64748B"/>
                          </a:solidFill>
                          <a:latin typeface="Calibri"/>
                        </a:rPr>
                        <a:t>M-Cycle / Scooter / Moped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0891B2"/>
                          </a:solidFill>
                          <a:latin typeface="Calibri"/>
                        </a:rPr>
                        <a:t>3,682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891B2"/>
                          </a:solidFill>
                          <a:latin typeface="Calibri"/>
                        </a:rPr>
                        <a:t>████████░░░░░░░  55.9%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6600"/>
                          </a:solidFill>
                          <a:latin typeface="Calibri"/>
                        </a:rPr>
                        <a:t>5,997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FF6600"/>
                          </a:solidFill>
                          <a:latin typeface="Calibri"/>
                        </a:rPr>
                        <a:t>████████████░░░  80.5%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059669"/>
                          </a:solidFill>
                          <a:latin typeface="Calibri"/>
                        </a:rPr>
                        <a:t>3-Wheeler</a:t>
                      </a:r>
                    </a:p>
                    <a:p>
                      <a:pPr algn="l"/>
                      <a:r>
                        <a:rPr sz="750" b="0" i="1">
                          <a:solidFill>
                            <a:srgbClr val="64748B"/>
                          </a:solidFill>
                          <a:latin typeface="Calibri"/>
                        </a:rPr>
                        <a:t>E-Rickshaw / Auto / Cargo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059669"/>
                          </a:solidFill>
                          <a:latin typeface="Calibri"/>
                        </a:rPr>
                        <a:t>1,578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59669"/>
                          </a:solidFill>
                          <a:latin typeface="Calibri"/>
                        </a:rPr>
                        <a:t>████░░░░░░░░░░░  23.9%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6600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FF6600"/>
                          </a:solidFill>
                          <a:latin typeface="Calibri"/>
                        </a:rPr>
                        <a:t>░░░░░░░░░░░░░░░  1.4%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7C3AED"/>
                          </a:solidFill>
                          <a:latin typeface="Calibri"/>
                        </a:rPr>
                        <a:t>4-Wheeler</a:t>
                      </a:r>
                    </a:p>
                    <a:p>
                      <a:pPr algn="l"/>
                      <a:r>
                        <a:rPr sz="750" b="0" i="1">
                          <a:solidFill>
                            <a:srgbClr val="64748B"/>
                          </a:solidFill>
                          <a:latin typeface="Calibri"/>
                        </a:rPr>
                        <a:t>Motor Car / Jeep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7C3AED"/>
                          </a:solidFill>
                          <a:latin typeface="Calibri"/>
                        </a:rPr>
                        <a:t>1,332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7C3AED"/>
                          </a:solidFill>
                          <a:latin typeface="Calibri"/>
                        </a:rPr>
                        <a:t>███░░░░░░░░░░░░  20.2%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6600"/>
                          </a:solidFill>
                          <a:latin typeface="Calibri"/>
                        </a:rPr>
                        <a:t>1,344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FF6600"/>
                          </a:solidFill>
                          <a:latin typeface="Calibri"/>
                        </a:rPr>
                        <a:t>███░░░░░░░░░░░░  18.0%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TOTAL EV</a:t>
                      </a:r>
                    </a:p>
                    <a:p>
                      <a:pPr algn="l"/>
                      <a:r>
                        <a:rPr sz="750" b="0" i="1">
                          <a:solidFill>
                            <a:srgbClr val="93C5FD"/>
                          </a:solidFill>
                          <a:latin typeface="Calibri"/>
                        </a:rPr>
                        <a:t>All EV vehicle types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Calibri"/>
                        </a:rPr>
                        <a:t>6,592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93C5FD"/>
                          </a:solidFill>
                          <a:latin typeface="Calibri"/>
                        </a:rPr>
                        <a:t>100%  of all EV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DBA74"/>
                          </a:solidFill>
                          <a:latin typeface="Calibri"/>
                        </a:rPr>
                        <a:t>7,446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DBA74"/>
                          </a:solidFill>
                          <a:latin typeface="Calibri"/>
                        </a:rPr>
                        <a:t>100%  of all EV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  <p:sp>
        <p:nvSpPr>
          <p:cNvPr id="54" name="Rectangle 5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" y="6647688"/>
            <a:ext cx="1200881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1">
                <a:solidFill>
                  <a:srgbClr val="93C5FD"/>
                </a:solidFill>
                <a:latin typeface="Calibri"/>
              </a:rPr>
              <a:t>  DL3 — South Delhi (Lado Sarai)   ·   vahan.parivahan.gov.in (MoRTH)   ·   Monthly: Y-Axis=Fuel, X-Axis=Month Wise   ·   Vehicle class: Y-Axis=Vehicle Class, X-Axis=Fuel   ·   Pure EV = ELECTRIC(BOV) + PURE EV   (hybrids excluded)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795528"/>
            <a:ext cx="11935663" cy="5961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6251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7963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9675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1387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3099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48111" y="9144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35663" y="384048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52783" y="384048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69903" y="384048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87023" y="384048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6576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 Light"/>
              </a:rPr>
              <a:t>EV Registrations  —  Rajouri Garden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4937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solidFill>
                  <a:srgbClr val="93C5FD"/>
                </a:solidFill>
                <a:latin typeface="Calibri"/>
              </a:rPr>
              <a:t>DL10 — Central Delhi (Raja Garden)   |   Source: VAHAN Dashboard, MoRTH   |   Data: Jan 2025 – Jul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" y="813816"/>
            <a:ext cx="2357871" cy="621792"/>
          </a:xfrm>
          <a:prstGeom prst="rect">
            <a:avLst/>
          </a:prstGeom>
          <a:solidFill>
            <a:srgbClr val="DBEAFE"/>
          </a:solidFill>
          <a:ln w="7620">
            <a:solidFill>
              <a:srgbClr val="00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8016" y="813816"/>
            <a:ext cx="2357871" cy="50292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01F5B"/>
                </a:solidFill>
                <a:latin typeface="Calibri"/>
              </a:rPr>
              <a:t>7,171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Total Pure EV
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49895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22463" y="813816"/>
            <a:ext cx="2357871" cy="621792"/>
          </a:xfrm>
          <a:prstGeom prst="rect">
            <a:avLst/>
          </a:prstGeom>
          <a:solidFill>
            <a:srgbClr val="FFEDD5"/>
          </a:solidFill>
          <a:ln w="762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22463" y="813816"/>
            <a:ext cx="2357871" cy="502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3903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Calibri"/>
              </a:rPr>
              <a:t>4,184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3903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Total Pure EV
Jan–Jul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44343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16911" y="813816"/>
            <a:ext cx="2357871" cy="621792"/>
          </a:xfrm>
          <a:prstGeom prst="rect">
            <a:avLst/>
          </a:prstGeom>
          <a:solidFill>
            <a:srgbClr val="CCF0F8"/>
          </a:solidFill>
          <a:ln w="762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16911" y="813816"/>
            <a:ext cx="2357871" cy="502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8351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891B2"/>
                </a:solidFill>
                <a:latin typeface="Calibri"/>
              </a:rPr>
              <a:t>3,441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8351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2-Wheeler EV
(2025 + 2026)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8791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1359" y="813816"/>
            <a:ext cx="2357871" cy="621792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1359" y="813816"/>
            <a:ext cx="2357871" cy="502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2799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3,179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2799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3-Wheeler EV
(2025 + 2026)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3239" y="841248"/>
            <a:ext cx="2357871" cy="6217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05807" y="813816"/>
            <a:ext cx="2357871" cy="621792"/>
          </a:xfrm>
          <a:prstGeom prst="rect">
            <a:avLst/>
          </a:prstGeom>
          <a:solidFill>
            <a:srgbClr val="EDE9FE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05807" y="813816"/>
            <a:ext cx="2357871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97247" y="859536"/>
            <a:ext cx="224814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Calibri"/>
              </a:rPr>
              <a:t>4,735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97247" y="1161288"/>
            <a:ext cx="22481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4-Wheeler EV
(2025 + 2026)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016" y="1481328"/>
            <a:ext cx="11935663" cy="2468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8016" y="1481328"/>
            <a:ext cx="54864" cy="24688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592" y="1499616"/>
            <a:ext cx="8229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  MONTHLY PURE EV REGISTRATIONS   (January 2025 — July 2026)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1508760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i="1">
                <a:solidFill>
                  <a:srgbClr val="93C5FD"/>
                </a:solidFill>
                <a:latin typeface="Calibri"/>
              </a:rPr>
              <a:t>Pure EV = ELECTRIC(BOV) + PURE EV   |   Hybrids excluded 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4" y="1746504"/>
            <a:ext cx="11899087" cy="1847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746504"/>
            <a:ext cx="11899087" cy="1847088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128016" y="3639312"/>
            <a:ext cx="11935663" cy="246888"/>
          </a:xfrm>
          <a:prstGeom prst="rect">
            <a:avLst/>
          </a:prstGeom>
          <a:solidFill>
            <a:srgbClr val="035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8016" y="3639312"/>
            <a:ext cx="54864" cy="2468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3657600"/>
            <a:ext cx="1170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  PURE EV BREAKDOWN BY VEHICLE TYPE   (Annual Totals — 2025 Full Year  &amp;  Jan–Jul 2026)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128016" y="3904488"/>
          <a:ext cx="12188952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3291840"/>
                <a:gridCol w="1828800"/>
                <a:gridCol w="304495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Vehicle 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2025  Full 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Share of 2025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2026  (Jan – Jul)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Share of 2026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0891B2"/>
                          </a:solidFill>
                          <a:latin typeface="Calibri"/>
                        </a:rPr>
                        <a:t>2-Wheeler</a:t>
                      </a:r>
                    </a:p>
                    <a:p>
                      <a:pPr algn="l"/>
                      <a:r>
                        <a:rPr sz="750" b="0" i="1">
                          <a:solidFill>
                            <a:srgbClr val="64748B"/>
                          </a:solidFill>
                          <a:latin typeface="Calibri"/>
                        </a:rPr>
                        <a:t>M-Cycle / Scooter / Moped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0891B2"/>
                          </a:solidFill>
                          <a:latin typeface="Calibri"/>
                        </a:rPr>
                        <a:t>1,344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891B2"/>
                          </a:solidFill>
                          <a:latin typeface="Calibri"/>
                        </a:rPr>
                        <a:t>███░░░░░░░░░░░░  18.7%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6600"/>
                          </a:solidFill>
                          <a:latin typeface="Calibri"/>
                        </a:rPr>
                        <a:t>2,097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FF6600"/>
                          </a:solidFill>
                          <a:latin typeface="Calibri"/>
                        </a:rPr>
                        <a:t>████████░░░░░░░  50.1%</a:t>
                      </a:r>
                    </a:p>
                  </a:txBody>
                  <a:tcPr>
                    <a:solidFill>
                      <a:srgbClr val="CCF0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059669"/>
                          </a:solidFill>
                          <a:latin typeface="Calibri"/>
                        </a:rPr>
                        <a:t>3-Wheeler</a:t>
                      </a:r>
                    </a:p>
                    <a:p>
                      <a:pPr algn="l"/>
                      <a:r>
                        <a:rPr sz="750" b="0" i="1">
                          <a:solidFill>
                            <a:srgbClr val="64748B"/>
                          </a:solidFill>
                          <a:latin typeface="Calibri"/>
                        </a:rPr>
                        <a:t>E-Rickshaw / Auto / Cargo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059669"/>
                          </a:solidFill>
                          <a:latin typeface="Calibri"/>
                        </a:rPr>
                        <a:t>3,117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59669"/>
                          </a:solidFill>
                          <a:latin typeface="Calibri"/>
                        </a:rPr>
                        <a:t>███████░░░░░░░░  43.5%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66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FF6600"/>
                          </a:solidFill>
                          <a:latin typeface="Calibri"/>
                        </a:rPr>
                        <a:t>░░░░░░░░░░░░░░░  1.5%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7C3AED"/>
                          </a:solidFill>
                          <a:latin typeface="Calibri"/>
                        </a:rPr>
                        <a:t>4-Wheeler</a:t>
                      </a:r>
                    </a:p>
                    <a:p>
                      <a:pPr algn="l"/>
                      <a:r>
                        <a:rPr sz="750" b="0" i="1">
                          <a:solidFill>
                            <a:srgbClr val="64748B"/>
                          </a:solidFill>
                          <a:latin typeface="Calibri"/>
                        </a:rPr>
                        <a:t>Motor Car / Jeep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7C3AED"/>
                          </a:solidFill>
                          <a:latin typeface="Calibri"/>
                        </a:rPr>
                        <a:t>2,710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7C3AED"/>
                          </a:solidFill>
                          <a:latin typeface="Calibri"/>
                        </a:rPr>
                        <a:t>██████░░░░░░░░░  37.8%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6600"/>
                          </a:solidFill>
                          <a:latin typeface="Calibri"/>
                        </a:rPr>
                        <a:t>2,025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FF6600"/>
                          </a:solidFill>
                          <a:latin typeface="Calibri"/>
                        </a:rPr>
                        <a:t>███████░░░░░░░░  48.4%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TOTAL EV</a:t>
                      </a:r>
                    </a:p>
                    <a:p>
                      <a:pPr algn="l"/>
                      <a:r>
                        <a:rPr sz="750" b="0" i="1">
                          <a:solidFill>
                            <a:srgbClr val="93C5FD"/>
                          </a:solidFill>
                          <a:latin typeface="Calibri"/>
                        </a:rPr>
                        <a:t>All EV vehicle types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Calibri"/>
                        </a:rPr>
                        <a:t>7,171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93C5FD"/>
                          </a:solidFill>
                          <a:latin typeface="Calibri"/>
                        </a:rPr>
                        <a:t>100%  of all EV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DBA74"/>
                          </a:solidFill>
                          <a:latin typeface="Calibri"/>
                        </a:rPr>
                        <a:t>4,184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DBA74"/>
                          </a:solidFill>
                          <a:latin typeface="Calibri"/>
                        </a:rPr>
                        <a:t>100%  of all EV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  <p:sp>
        <p:nvSpPr>
          <p:cNvPr id="54" name="Rectangle 5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" y="6647688"/>
            <a:ext cx="1200881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1">
                <a:solidFill>
                  <a:srgbClr val="93C5FD"/>
                </a:solidFill>
                <a:latin typeface="Calibri"/>
              </a:rPr>
              <a:t>  DL10 — Central Delhi (Raja Garden)   ·   vahan.parivahan.gov.in (MoRTH)   ·   Monthly: Y-Axis=Fuel, X-Axis=Month Wise   ·   Vehicle class: Y-Axis=Vehicle Class, X-Axis=Fuel   ·   Pure EV = ELECTRIC(BOV) + PURE EV   (hybrids excluded)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